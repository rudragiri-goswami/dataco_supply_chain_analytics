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64008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132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63238"/>
                </a:solidFill>
                <a:latin typeface="Aptos Display"/>
              </a:rPr>
              <a:t>SUPPLY CHAIN
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4436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F6D7A"/>
                </a:solidFill>
                <a:latin typeface="Aptos"/>
              </a:rPr>
              <a:t>Delivery Performance &amp; Late Delivery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8F71"/>
                </a:solidFill>
                <a:latin typeface="Aptos"/>
              </a:rPr>
              <a:t>Employee meeting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180,518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ORDERS ANALYZED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2628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57.3%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9834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DELAY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52628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9834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ON-TIME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526280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983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BEST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126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58A"/>
                </a:solidFill>
                <a:latin typeface="Aptos"/>
              </a:rPr>
              <a:t>DataCo Supply Chain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What this analysis is designed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A business view of delivery performance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3337560" cy="361188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B8F7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3238"/>
                </a:solidFill>
                <a:latin typeface="Aptos"/>
              </a:rPr>
              <a:t>Current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How often are orders delayed, and how large is the schedule deviation?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3337560" cy="361188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B8F7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3238"/>
                </a:solidFill>
                <a:latin typeface="Aptos"/>
              </a:rPr>
              <a:t>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94436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Which shipping, regional, customer, department, and time dimensions show higher delay rates?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6" y="1737360"/>
            <a:ext cx="3337560" cy="361188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3336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B8F7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3238"/>
                </a:solidFill>
                <a:latin typeface="Aptos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94436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Where should management focus operational review, and can late-delivery risk be predicted?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Delivery performance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The main issue is frequency of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10835640" cy="132588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180,518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TOTAL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4708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103,399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042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DELAYED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4708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57.3%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042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DELAY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470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1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0428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MEDIAN DEVIATION</a:t>
            </a:r>
          </a:p>
        </p:txBody>
      </p:sp>
      <p:pic>
        <p:nvPicPr>
          <p:cNvPr id="16" name="Picture 15" descr="exec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5623560" cy="209187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629400" y="3337560"/>
            <a:ext cx="4892040" cy="141732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3465576"/>
            <a:ext cx="4526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694176"/>
            <a:ext cx="4526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Delay is not an isolated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77639"/>
            <a:ext cx="45262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57.3% of analyzed orders exceeded scheduled shipping time. The median deviation is 1 day, while the 90th percentile is 2 days.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074920"/>
            <a:ext cx="448056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263238"/>
                </a:solidFill>
                <a:latin typeface="Aptos"/>
              </a:defRPr>
            </a:pPr>
            <a:r>
              <a:rPr dirty="0"/>
              <a:t>More than half of the order base is affected.</a:t>
            </a:r>
          </a:p>
          <a:p>
            <a:pPr marL="171450" indent="-171450" algn="just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263238"/>
                </a:solidFill>
                <a:latin typeface="Aptos"/>
              </a:defRPr>
            </a:pPr>
            <a:r>
              <a:rPr dirty="0"/>
              <a:t>The distribution supports a process-level review rather than</a:t>
            </a:r>
            <a:r>
              <a:rPr lang="en-US" dirty="0"/>
              <a:t> </a:t>
            </a:r>
            <a:r>
              <a:rPr dirty="0"/>
              <a:t>only individual exceptions.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Shipping mode is the strongest visible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Premium service levels do not automatically translate into better observed delivery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exec_sh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6537960" cy="3225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52360" y="1645920"/>
            <a:ext cx="4069080" cy="160020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773936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002536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What the chart suggests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286000"/>
            <a:ext cx="37033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First Class has the highest observed delay rate at 100.0%. Second Class is also high at 79.7%. Standard Class is lower at 39.8%.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657600"/>
            <a:ext cx="3749039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Review carrier assignment and route design.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Compare promised service levels with actual performance.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Check whether premium orders are concentrated in harder-to-serve lanes.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Regional and customer patterns are more moderate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Useful for prioritization, but not the primary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exec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394960" cy="2659538"/>
          </a:xfrm>
          <a:prstGeom prst="rect">
            <a:avLst/>
          </a:prstGeom>
        </p:spPr>
      </p:pic>
      <p:pic>
        <p:nvPicPr>
          <p:cNvPr id="8" name="Picture 7" descr="exec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94960" cy="26613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5074919"/>
            <a:ext cx="5257800" cy="1179577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029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3153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63238"/>
                </a:solidFill>
                <a:latin typeface="Aptos"/>
              </a:rPr>
              <a:t>Regional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15000"/>
            <a:ext cx="4892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263238"/>
                </a:solidFill>
                <a:latin typeface="Aptos"/>
              </a:rPr>
              <a:t>Central Africa has the highest regional delay rate at 60.7%. Regional variation is visible but less pronounced than the shipping-mode difference.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5074920"/>
            <a:ext cx="5257800" cy="1179576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52029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43153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Customer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715000"/>
            <a:ext cx="4892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263238"/>
                </a:solidFill>
                <a:latin typeface="Aptos"/>
              </a:rPr>
              <a:t>Home Office has the highest segment rate at 57.5%. The overall segment spread is relatively small.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Department differences point to targeted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The highest-delay departments can be examined for fulfillment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exec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675120" cy="32928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554480"/>
            <a:ext cx="3840480" cy="109728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59" y="16824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191109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Highest observed 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2194560"/>
            <a:ext cx="34747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Pet Shop has the highest delay rate at 61.4%.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063240"/>
            <a:ext cx="374903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Health and Beauty : 58.6%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lang="en-US" dirty="0"/>
              <a:t>T</a:t>
            </a:r>
            <a:r>
              <a:rPr dirty="0"/>
              <a:t>echnology: 58.4%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Review inventory availability, fulfillment time, and carrier assignment.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263238"/>
                </a:solidFill>
                <a:latin typeface="Aptos"/>
              </a:defRPr>
            </a:pPr>
            <a:r>
              <a:rPr dirty="0"/>
              <a:t>Treat these results as associations, not proven root causes.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Financial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Delivery status shows modest differences in selected average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exec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629400" cy="31858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52360" y="1645920"/>
            <a:ext cx="3886200" cy="164592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77393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00253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What the chart suggests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286000"/>
            <a:ext cx="3520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Average benefit per order is $21.58 for delayed orders versus $22.50 for on-time orders. Sales per customer also differs between the groups.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749039"/>
            <a:ext cx="3703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The current analysis does not prove that delay causes financial loss.</a:t>
            </a:r>
          </a:p>
          <a:p>
            <a:pPr>
              <a:spcAft>
                <a:spcPts val="8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A stronger business case would add revenue, profit, discount, shipping cost, and customer-impact measures.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When are delays more common?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Time patterns can support capacity and cutoff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exec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657600" cy="1716032"/>
          </a:xfrm>
          <a:prstGeom prst="rect">
            <a:avLst/>
          </a:prstGeom>
        </p:spPr>
      </p:pic>
      <p:pic>
        <p:nvPicPr>
          <p:cNvPr id="8" name="Picture 7" descr="exec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417320"/>
            <a:ext cx="3657600" cy="1804285"/>
          </a:xfrm>
          <a:prstGeom prst="rect">
            <a:avLst/>
          </a:prstGeom>
        </p:spPr>
      </p:pic>
      <p:pic>
        <p:nvPicPr>
          <p:cNvPr id="9" name="Picture 8" descr="exec_h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417320"/>
            <a:ext cx="3611880" cy="16934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120640"/>
            <a:ext cx="10744200" cy="91440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48655"/>
            <a:ext cx="10378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77255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3784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Month 12 has the highest monthly rate at 57.9%. The highest observed hourly periods are 12:00, 20:00, 22:00.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Predictive model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Three baseline classifiers were compared using F1 as the primary selection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exec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66560" cy="32571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5544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0.763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BEST F1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6060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0.746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63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BEST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3749038"/>
            <a:ext cx="3931920" cy="1202407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387705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105655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Selected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389120"/>
            <a:ext cx="3566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Decision Tree produced the highest F1 score among the three tested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074920"/>
            <a:ext cx="3749039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263238"/>
                </a:solidFill>
                <a:latin typeface="Aptos"/>
              </a:defRPr>
            </a:pPr>
            <a:r>
              <a:rPr dirty="0"/>
              <a:t>The model supports prioritization of higher-risk orders.</a:t>
            </a:r>
          </a:p>
          <a:p>
            <a:pPr marL="171450" indent="-171450" algn="just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263238"/>
                </a:solidFill>
                <a:latin typeface="Aptos"/>
              </a:defRPr>
            </a:pPr>
            <a:r>
              <a:rPr dirty="0"/>
              <a:t>It should be validated and improved before operational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From analysis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Five areas for management and operations to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F7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3238"/>
                </a:solidFill>
                <a:latin typeface="Aptos"/>
              </a:rPr>
              <a:t>Shipping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08760"/>
            <a:ext cx="7818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263238"/>
                </a:solidFill>
                <a:latin typeface="Aptos"/>
              </a:rPr>
              <a:t>Review carrier, routing</a:t>
            </a:r>
            <a:r>
              <a:rPr lang="en-US" sz="1200" dirty="0">
                <a:solidFill>
                  <a:srgbClr val="263238"/>
                </a:solidFill>
                <a:latin typeface="Aptos"/>
              </a:rPr>
              <a:t> </a:t>
            </a:r>
            <a:r>
              <a:rPr sz="1200" b="0" dirty="0">
                <a:solidFill>
                  <a:srgbClr val="263238"/>
                </a:solidFill>
                <a:latin typeface="Aptos"/>
              </a:rPr>
              <a:t>and service-level performance.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698480" cy="10972"/>
          </a:xfrm>
          <a:prstGeom prst="rect">
            <a:avLst/>
          </a:prstGeom>
          <a:solidFill>
            <a:srgbClr val="E0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F7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23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3238"/>
                </a:solidFill>
                <a:latin typeface="Aptos"/>
              </a:rPr>
              <a:t>High-delay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23160"/>
            <a:ext cx="7818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263238"/>
                </a:solidFill>
                <a:latin typeface="Aptos"/>
              </a:rPr>
              <a:t>Investigate coverage, transit time</a:t>
            </a:r>
            <a:r>
              <a:rPr lang="en-US" sz="1200" dirty="0">
                <a:solidFill>
                  <a:srgbClr val="263238"/>
                </a:solidFill>
                <a:latin typeface="Aptos"/>
              </a:rPr>
              <a:t> </a:t>
            </a:r>
            <a:r>
              <a:rPr sz="1200" b="0" dirty="0">
                <a:solidFill>
                  <a:srgbClr val="263238"/>
                </a:solidFill>
                <a:latin typeface="Aptos"/>
              </a:rPr>
              <a:t>and regional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0698480" cy="10972"/>
          </a:xfrm>
          <a:prstGeom prst="rect">
            <a:avLst/>
          </a:prstGeom>
          <a:solidFill>
            <a:srgbClr val="E0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F7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3238"/>
                </a:solidFill>
                <a:latin typeface="Aptos"/>
              </a:rPr>
              <a:t>High-delay departments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337560"/>
            <a:ext cx="7818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263238"/>
                </a:solidFill>
                <a:latin typeface="Aptos"/>
              </a:rPr>
              <a:t>Review inventory, fulfillment time and carrier assignment.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698480" cy="10972"/>
          </a:xfrm>
          <a:prstGeom prst="rect">
            <a:avLst/>
          </a:prstGeom>
          <a:solidFill>
            <a:srgbClr val="E0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F7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3238"/>
                </a:solidFill>
                <a:latin typeface="Aptos"/>
              </a:rPr>
              <a:t>Capacity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51960"/>
            <a:ext cx="7818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263238"/>
                </a:solidFill>
                <a:latin typeface="Aptos"/>
              </a:rPr>
              <a:t>Use monthly and hourly patterns to review workload and cutoffs.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10698480" cy="10972"/>
          </a:xfrm>
          <a:prstGeom prst="rect">
            <a:avLst/>
          </a:prstGeom>
          <a:solidFill>
            <a:srgbClr val="E0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F7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3238"/>
                </a:solidFill>
                <a:latin typeface="Aptos"/>
              </a:rPr>
              <a:t>Risk prioritization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166360"/>
            <a:ext cx="7818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263238"/>
                </a:solidFill>
                <a:latin typeface="Aptos"/>
              </a:rPr>
              <a:t>Use the predictive model as a supporting decision tool.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69280"/>
            <a:ext cx="10698480" cy="10972"/>
          </a:xfrm>
          <a:prstGeom prst="rect">
            <a:avLst/>
          </a:prstGeom>
          <a:solidFill>
            <a:srgbClr val="E0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11480"/>
            <a:ext cx="96012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3238"/>
                </a:solidFill>
                <a:latin typeface="Aptos Display"/>
              </a:rPr>
              <a:t>Management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A858A"/>
                </a:solidFill>
                <a:latin typeface="Aptos"/>
              </a:rPr>
              <a:t>The analysis points to focused operational review rather than broad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58A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698480" cy="1143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57.3%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DELAY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677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FIRST CLASS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1051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61.4%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HIGHEST DEPT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81051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F6D7A"/>
                </a:solidFill>
                <a:latin typeface="Aptos Display"/>
              </a:rPr>
              <a:t>0.763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677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A858A"/>
                </a:solidFill>
                <a:latin typeface="Aptos"/>
              </a:rPr>
              <a:t>BEST MODEL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246120"/>
            <a:ext cx="5074920" cy="164592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4709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02736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Core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86200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Delivery performance is a recurring operational issue. Shipping mode is the strongest visible pattern, while regional and department analysis helps identify where deeper review should begin.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246120"/>
            <a:ext cx="5074920" cy="1645920"/>
          </a:xfrm>
          <a:prstGeom prst="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74136"/>
            <a:ext cx="4709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8F71"/>
                </a:solidFill>
                <a:latin typeface="Aptos"/>
              </a:rPr>
              <a:t>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02736"/>
            <a:ext cx="4709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3238"/>
                </a:solidFill>
                <a:latin typeface="Aptos"/>
              </a:rP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86200"/>
            <a:ext cx="4709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The predictive model adds an order-level risk perspective. It is best used alongside operational knowledge and further validation.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3238"/>
                </a:solidFill>
                <a:latin typeface="Aptos"/>
              </a:rPr>
              <a:t>The next step is to connect these patterns with carrier, fulfillment, inventory, and cost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005840"/>
            <a:ext cx="1005840" cy="64008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63238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F6D7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58A"/>
                </a:solidFill>
                <a:latin typeface="Aptos"/>
              </a:rPr>
              <a:t>Supply Chain Analytics | Delivery Performance &amp; Late Delivery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752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Rudragiri Goswami</dc:creator>
  <cp:keywords/>
  <dc:description>generated using python-pptx</dc:description>
  <cp:lastModifiedBy>Rudragiri Goswami</cp:lastModifiedBy>
  <cp:revision>2</cp:revision>
  <dcterms:created xsi:type="dcterms:W3CDTF">2013-01-27T09:14:16Z</dcterms:created>
  <dcterms:modified xsi:type="dcterms:W3CDTF">2026-10-04T06:02:23Z</dcterms:modified>
  <cp:category/>
</cp:coreProperties>
</file>